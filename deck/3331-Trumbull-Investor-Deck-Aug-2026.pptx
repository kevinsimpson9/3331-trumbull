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3331-trumbull/deck/img/rendering-aeri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264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35040" y="0"/>
            <a:ext cx="6126480" cy="6858000"/>
          </a:xfrm>
          <a:prstGeom prst="rect">
            <a:avLst/>
          </a:prstGeom>
          <a:solidFill>
            <a:srgbClr val="12303C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0" y="0"/>
            <a:ext cx="1097280" cy="6858000"/>
          </a:xfrm>
          <a:prstGeom prst="rect">
            <a:avLst/>
          </a:prstGeom>
          <a:solidFill>
            <a:srgbClr val="12303C">
              <a:alpha val="7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6" name="Shape 3"/>
          <p:cNvSpPr/>
          <p:nvPr/>
        </p:nvSpPr>
        <p:spPr>
          <a:xfrm>
            <a:off x="566928" y="987552"/>
            <a:ext cx="118872" cy="11887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4"/>
          <p:cNvSpPr/>
          <p:nvPr/>
        </p:nvSpPr>
        <p:spPr>
          <a:xfrm>
            <a:off x="804672" y="914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 CAPITAL  ×  BONDY CONSTRUCTION &amp; DESIGN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66928" y="13716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3331 Trumbull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566928" y="22860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Twenty-five for-sale townhomes on a full city block in North Corktown, Detroit — built in two phases.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" y="35661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+ 12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566928" y="3959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UNITS, PHASE 1 / PHASE 2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2194560" y="35661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$700K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194560" y="3959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NOTE TRANCHE</a:t>
            </a:r>
            <a:endParaRPr lang="en-US" sz="780" dirty="0"/>
          </a:p>
        </p:txBody>
      </p:sp>
      <p:sp>
        <p:nvSpPr>
          <p:cNvPr id="14" name="Text 11"/>
          <p:cNvSpPr/>
          <p:nvPr/>
        </p:nvSpPr>
        <p:spPr>
          <a:xfrm>
            <a:off x="3822192" y="35661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3822192" y="3959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FIXED, PAID QUARTERLY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566928" y="4736592"/>
            <a:ext cx="493776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9011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 NOTE OFFERING   ·   AUGUST 2026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52303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prepared for the named recipient only. Not an offer to sell securities.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city block, built in two bites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5897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is a full city block in North Corktown, master-planned by 4545 Architecture: five buildings around a private parking court with 248 feet of frontage where Trumbull meets Sycamore and Ash. All 25 homes get an attached garage and a private rooftop deck with skyline views.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 completed June 2026. Rather than build all 25 at once, the project runs in two phases — 13 homes, then 12 — so Phase 1 proceeds fund Phase 2 and investor principal returns off the first closings.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" y="429768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440740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68096" y="479145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BUILDINGS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584448" y="411480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85616" y="429768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2" name="Text 10"/>
          <p:cNvSpPr/>
          <p:nvPr/>
        </p:nvSpPr>
        <p:spPr>
          <a:xfrm>
            <a:off x="3785616" y="440740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$10.76M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785616" y="479145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REVENUE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66928" y="521208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8096" y="539496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55046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$2.67M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768096" y="58887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584448" y="521208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85616" y="539496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0" name="Text 18"/>
          <p:cNvSpPr/>
          <p:nvPr/>
        </p:nvSpPr>
        <p:spPr>
          <a:xfrm>
            <a:off x="3785616" y="55046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24.8%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3785616" y="58887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784848" y="1572768"/>
            <a:ext cx="4809744" cy="40416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77800" dist="25400" dir="5400000">
              <a:srgbClr val="0B2029">
                <a:alpha val="12000"/>
              </a:srgbClr>
            </a:outerShdw>
          </a:effectLst>
        </p:spPr>
      </p:sp>
      <p:pic>
        <p:nvPicPr>
          <p:cNvPr id="23" name="Image 0" descr="/home/user/3331-trumbull/deck/img/site-p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67728" y="1755648"/>
            <a:ext cx="4443984" cy="3310128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967728" y="5138928"/>
            <a:ext cx="4443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SITE PLAN · SP1.1 · 4545 ARCHITECTURE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Thirteen homes first. Then twelve.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Phasing cuts the capital at risk roughly in half, proves absorption before the second half breaks ground, and lets Phase 1 closings do two jobs at once — return investor principal and fund Phase 2.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304288"/>
            <a:ext cx="5422392" cy="2304288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578608"/>
            <a:ext cx="100584" cy="10058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25054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41248" y="279806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homes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84448" y="2798064"/>
            <a:ext cx="2130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1–3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336499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by a First Merchants construction loan — secured at 6% — alongside the $700,000 investor note tranche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$100,000 secured notes — the full raise, and the only raise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Pre-sales launch during construction; closings begin as buildings deliver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90488" y="2304288"/>
            <a:ext cx="5422392" cy="2304288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4808" y="2578608"/>
            <a:ext cx="100584" cy="100584"/>
          </a:xfrm>
          <a:prstGeom prst="rect">
            <a:avLst/>
          </a:prstGeom>
          <a:solidFill>
            <a:srgbClr val="9FC0C8"/>
          </a:solidFill>
          <a:ln/>
        </p:spPr>
      </p:sp>
      <p:sp>
        <p:nvSpPr>
          <p:cNvPr id="14" name="Text 12"/>
          <p:cNvSpPr/>
          <p:nvPr/>
        </p:nvSpPr>
        <p:spPr>
          <a:xfrm>
            <a:off x="6665976" y="25054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4808" y="279806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homes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08008" y="2798064"/>
            <a:ext cx="2130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4–5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64808" y="336499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from Phase 1 closing proceeds — no second investor raise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ground while Phase 1 is still closing out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Completes the block and the $10.76M projected sellout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828032"/>
            <a:ext cx="11045952" cy="1207008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5029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of 13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2505456" y="5029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CLOSINGS RETURN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PRINCIPAL IN FULL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138928" y="4992624"/>
            <a:ext cx="61447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closings throw off roughly $3.4M of gross sale proceeds and $855,204 of cumulative net profit against $700,000 of principal — 1.22× coverage measured on profit alone, after the construction lender is fully repaid on those units. The remaining five Phase 1 homes and all of Phase 2 close free of the note.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return, real security, short clock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fixed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68096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RATE, INTEREST-ONLY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64992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$5,000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566160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QUARTER, PER $100K NOTE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163056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64224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6364224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18–24 mo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64224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— EARLY AT 8 OF 13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961120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62288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9162288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2nd position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62288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DEBT + GUARANTEE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" y="3127248"/>
            <a:ext cx="667512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3127248"/>
            <a:ext cx="281468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ECONOMICS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710801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NOTE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924460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NOTES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38118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NOTES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66928" y="3419856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3419856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710801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924460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$300,000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38118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3767328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3767328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interest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710801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$5,000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924460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$15,000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38118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$35,000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114800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114800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per year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710801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$20,000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924460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$60,000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38118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$140,000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4462272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4462272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interest — 24 months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710801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$40,000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24460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$120,000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138118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$280,000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4809744"/>
            <a:ext cx="6675120" cy="347472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76656" y="4809744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cash returned — 24 months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710801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$140,000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924460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$420,000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138118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$980,000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5285232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is a fixed contractual obligation of the borrower under the promissory note, not a projection. Seven $100,000 notes; accredited investors only.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571232" y="3127248"/>
            <a:ext cx="4041648" cy="2724912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53" name="Shape 51"/>
          <p:cNvSpPr/>
          <p:nvPr/>
        </p:nvSpPr>
        <p:spPr>
          <a:xfrm>
            <a:off x="7827264" y="33832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54" name="Text 52"/>
          <p:cNvSpPr/>
          <p:nvPr/>
        </p:nvSpPr>
        <p:spPr>
          <a:xfrm>
            <a:off x="8028432" y="33101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CAPITAL STACK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827264" y="3694176"/>
            <a:ext cx="54864" cy="420624"/>
          </a:xfrm>
          <a:prstGeom prst="rect">
            <a:avLst/>
          </a:prstGeom>
          <a:solidFill>
            <a:srgbClr val="27505F"/>
          </a:solidFill>
          <a:ln/>
        </p:spPr>
      </p:sp>
      <p:sp>
        <p:nvSpPr>
          <p:cNvPr id="56" name="Text 54"/>
          <p:cNvSpPr/>
          <p:nvPr/>
        </p:nvSpPr>
        <p:spPr>
          <a:xfrm>
            <a:off x="8010144" y="369417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construction loan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010144" y="3904488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Merchants Bank · secured at 6%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7827264" y="4297680"/>
            <a:ext cx="54864" cy="42062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59" name="Text 57"/>
          <p:cNvSpPr/>
          <p:nvPr/>
        </p:nvSpPr>
        <p:spPr>
          <a:xfrm>
            <a:off x="8010144" y="42976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notes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010144" y="4507992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 · 2nd position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7827264" y="4901184"/>
            <a:ext cx="54864" cy="420624"/>
          </a:xfrm>
          <a:prstGeom prst="rect">
            <a:avLst/>
          </a:prstGeom>
          <a:solidFill>
            <a:srgbClr val="27505F"/>
          </a:solidFill>
          <a:ln/>
        </p:spPr>
      </p:sp>
      <p:sp>
        <p:nvSpPr>
          <p:cNvPr id="62" name="Text 60"/>
          <p:cNvSpPr/>
          <p:nvPr/>
        </p:nvSpPr>
        <p:spPr>
          <a:xfrm>
            <a:off x="8010144" y="49011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equity &amp; land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8010144" y="5111496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owned since 2022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7827264" y="54315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6E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Merchants has financed $10M+ of Bondy projects since 2019, all obligations met per terms.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proven floorplans, all under $450K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2871216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883664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105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· 17 HOMES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213969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$432,870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04672" y="259689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$282 / SF  ·  launch pricing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04672" y="2907792"/>
            <a:ext cx="23957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BR / 2.5 BA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1,535 sf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Tuck-under garage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roof deck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21024" y="1627632"/>
            <a:ext cx="2871216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858768" y="1883664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3" name="Text 11"/>
          <p:cNvSpPr/>
          <p:nvPr/>
        </p:nvSpPr>
        <p:spPr>
          <a:xfrm>
            <a:off x="4059936" y="18105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B · 8 HOMES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858768" y="213969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$409,384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3858768" y="259689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$292 / SF  ·  launch pricing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858768" y="2907792"/>
            <a:ext cx="23957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BR / 2.5 BA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1,402 sf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Tuck-under garage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roof deck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059936"/>
            <a:ext cx="592531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4672" y="4315968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24281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FINISHES &amp; UPGRADE REVENUE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" y="4572000"/>
            <a:ext cx="5449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Granite and quartz tops, engineered wood and tile floors, full-glass shower enclosures, Andersen windows, smart thermostats. Launch pricing produces a $10.6M sellout before upgrades; the proforma carries a $125,000 upgrade-revenue allowance on top.</a:t>
            </a:r>
            <a:endParaRPr lang="en-US" sz="1050" dirty="0"/>
          </a:p>
        </p:txBody>
      </p:sp>
      <p:pic>
        <p:nvPicPr>
          <p:cNvPr id="21" name="Image 0" descr="/home/user/3331-trumbull/deck/img/rendering-street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84848" y="1627632"/>
            <a:ext cx="4809744" cy="398678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EVIDENCE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$30–50/sf under closed comps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recorded closings from the same submarket, the same architect, and the same builder — not projections. 3331 Trumbull launches below every one of them.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157984"/>
            <a:ext cx="786384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157984"/>
            <a:ext cx="35508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446990" y="2157984"/>
            <a:ext cx="1234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(SF)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901262" y="2157984"/>
            <a:ext cx="1019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$/SF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140086" y="2157984"/>
            <a:ext cx="1180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7863840" cy="342900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24505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— North Corktown (subject)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446990" y="24505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1,402–1,535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01262" y="24505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$282–292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140086" y="24505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pricing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27934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27934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— Bondy, 1 block from site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46990" y="27934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1,261–1,585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01262" y="27934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$312–327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140086" y="27934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1363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31363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Terraces at Woodbridge — same architect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446990" y="31363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1,278–1,592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901262" y="31363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$313–341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140086" y="31363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closings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4792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34792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Harrison 12 — Bondy, North Corktown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446990" y="34792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843–1,511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01262" y="34792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$289–326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40086" y="34792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38221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38221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Scripps District — Woodbridge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446990" y="38221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1,331–1,618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901262" y="38221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$256–286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140086" y="38221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~65% of 61 sold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1650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1650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Coachman — Corktown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446990" y="41650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696–1,500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901262" y="41650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$349–428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140086" y="41650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45079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45079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Eleventh — Corktown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446990" y="45079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2,030–2,054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901262" y="45079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$229–292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140086" y="45079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66928" y="499719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Realcomp IDX sold records (June–July 2026 pulls), ALTA seller settlement statements, and builder price lists, per Bondy Construction &amp; Design. Full comp book with unit-level closings is in the offering package. All figures should be independently verified.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686800" y="2157984"/>
            <a:ext cx="2907792" cy="329184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48" name="Shape 46"/>
          <p:cNvSpPr/>
          <p:nvPr/>
        </p:nvSpPr>
        <p:spPr>
          <a:xfrm>
            <a:off x="8924544" y="2414016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9" name="Text 47"/>
          <p:cNvSpPr/>
          <p:nvPr/>
        </p:nvSpPr>
        <p:spPr>
          <a:xfrm>
            <a:off x="9125712" y="234086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HEADROOM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24544" y="272491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$288</a:t>
            </a:r>
            <a:endParaRPr lang="en-US" sz="3000" dirty="0"/>
          </a:p>
        </p:txBody>
      </p:sp>
      <p:sp>
        <p:nvSpPr>
          <p:cNvPr id="51" name="Text 49"/>
          <p:cNvSpPr/>
          <p:nvPr/>
        </p:nvSpPr>
        <p:spPr>
          <a:xfrm>
            <a:off x="8924544" y="323697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BLENDED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PRICE PER SF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924544" y="3785616"/>
            <a:ext cx="246888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53" name="Text 51"/>
          <p:cNvSpPr/>
          <p:nvPr/>
        </p:nvSpPr>
        <p:spPr>
          <a:xfrm>
            <a:off x="8924544" y="39136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$320</a:t>
            </a:r>
            <a:endParaRPr lang="en-US" sz="2700" dirty="0"/>
          </a:p>
        </p:txBody>
      </p:sp>
      <p:sp>
        <p:nvSpPr>
          <p:cNvPr id="54" name="Text 52"/>
          <p:cNvSpPr/>
          <p:nvPr/>
        </p:nvSpPr>
        <p:spPr>
          <a:xfrm>
            <a:off x="8924544" y="4389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BLENDED —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BONDY-BUILT, ONE BLOCK AWAY,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 AT SETTLEMENT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proforma — all 25 units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649224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536192"/>
            <a:ext cx="429688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ITEM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192997" y="1536192"/>
            <a:ext cx="17564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82880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182880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unit sales (25 units)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192997" y="182880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$10,633,862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19456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219456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revenue allowance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192997" y="219456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$125,000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" y="256032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projected revenue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192997" y="256032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$10,758,862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92608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292608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development cost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192997" y="292608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($7,387,024)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329184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329184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profit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192997" y="329184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$3,371,838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65760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365760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costs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192997" y="365760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($699,326)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4023360"/>
            <a:ext cx="6492240" cy="365760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02336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net profit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192997" y="402336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$2,672,512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66928" y="4498848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3331 Trumbull for-sale proforma, June 2026. Figures reflect launch pricing across both phases before upgrade contracts. All figures should be independently verified.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443216" y="1536192"/>
            <a:ext cx="201168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644384" y="1719072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2" name="Text 30"/>
          <p:cNvSpPr/>
          <p:nvPr/>
        </p:nvSpPr>
        <p:spPr>
          <a:xfrm>
            <a:off x="7644384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$288</a:t>
            </a:r>
            <a:endParaRPr lang="en-US" sz="2500" dirty="0"/>
          </a:p>
        </p:txBody>
      </p:sp>
      <p:sp>
        <p:nvSpPr>
          <p:cNvPr id="33" name="Text 31"/>
          <p:cNvSpPr/>
          <p:nvPr/>
        </p:nvSpPr>
        <p:spPr>
          <a:xfrm>
            <a:off x="7644384" y="2212848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PRICE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SQUARE FOOT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582912" y="1536192"/>
            <a:ext cx="201168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784080" y="1719072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6" name="Text 34"/>
          <p:cNvSpPr/>
          <p:nvPr/>
        </p:nvSpPr>
        <p:spPr>
          <a:xfrm>
            <a:off x="978408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$106,900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784080" y="2212848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NET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UNIT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443216" y="3054096"/>
            <a:ext cx="201168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644384" y="323697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0" name="Text 38"/>
          <p:cNvSpPr/>
          <p:nvPr/>
        </p:nvSpPr>
        <p:spPr>
          <a:xfrm>
            <a:off x="7644384" y="33467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24.8%</a:t>
            </a:r>
            <a:endParaRPr lang="en-US" sz="2500" dirty="0"/>
          </a:p>
        </p:txBody>
      </p:sp>
      <p:sp>
        <p:nvSpPr>
          <p:cNvPr id="41" name="Text 39"/>
          <p:cNvSpPr/>
          <p:nvPr/>
        </p:nvSpPr>
        <p:spPr>
          <a:xfrm>
            <a:off x="7644384" y="3730752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582912" y="3054096"/>
            <a:ext cx="201168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784080" y="323697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4" name="Text 42"/>
          <p:cNvSpPr/>
          <p:nvPr/>
        </p:nvSpPr>
        <p:spPr>
          <a:xfrm>
            <a:off x="9784080" y="33467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36.2%</a:t>
            </a:r>
            <a:endParaRPr lang="en-US" sz="2500" dirty="0"/>
          </a:p>
        </p:txBody>
      </p:sp>
      <p:sp>
        <p:nvSpPr>
          <p:cNvPr id="45" name="Text 43"/>
          <p:cNvSpPr/>
          <p:nvPr/>
        </p:nvSpPr>
        <p:spPr>
          <a:xfrm>
            <a:off x="9784080" y="3730752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COST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66928" y="5102352"/>
            <a:ext cx="11045952" cy="1060704"/>
          </a:xfrm>
          <a:prstGeom prst="rect">
            <a:avLst/>
          </a:prstGeom>
          <a:solidFill>
            <a:srgbClr val="12303C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7824" y="526694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6%</a:t>
            </a:r>
            <a:endParaRPr lang="en-US" sz="2900" dirty="0"/>
          </a:p>
        </p:txBody>
      </p:sp>
      <p:sp>
        <p:nvSpPr>
          <p:cNvPr id="48" name="Text 46"/>
          <p:cNvSpPr/>
          <p:nvPr/>
        </p:nvSpPr>
        <p:spPr>
          <a:xfrm>
            <a:off x="877824" y="570585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DEBT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962656" y="526694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9%</a:t>
            </a:r>
            <a:endParaRPr lang="en-US" sz="2900" dirty="0"/>
          </a:p>
        </p:txBody>
      </p:sp>
      <p:sp>
        <p:nvSpPr>
          <p:cNvPr id="50" name="Text 48"/>
          <p:cNvSpPr/>
          <p:nvPr/>
        </p:nvSpPr>
        <p:spPr>
          <a:xfrm>
            <a:off x="2962656" y="570585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IN THE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b="1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PROFORMA ABOVE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047488" y="528523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construction loan is secured at 6%. Every figure above is underwritten at 9%, with construction overage allowances carried in the budget — so the projected margin is modeled three points above the debt cost actually in hand, before any of that cushion is counted.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RECORD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on this block, three times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Bondy Construction &amp; Design has built and sold out three townhome developments within blocks of 3331 Trumbull. These are closed transactions from the firm's real-estate-owned schedule — purchase, build cost, sale price, and realized profit.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AUG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 Corktown 11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04672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3301 Cochrane St  ·  11 units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04672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04672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$4,650,000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395728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395728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$1,030,000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79392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17136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8" name="Text 16"/>
          <p:cNvSpPr/>
          <p:nvPr/>
        </p:nvSpPr>
        <p:spPr>
          <a:xfrm>
            <a:off x="4718304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AUG 2024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517136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Harrison 12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517136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2746 Harrison St  ·  12 units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17136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22" name="Text 20"/>
          <p:cNvSpPr/>
          <p:nvPr/>
        </p:nvSpPr>
        <p:spPr>
          <a:xfrm>
            <a:off x="4517136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17136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$4,250,000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08192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08192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$750,000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91856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0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8" name="Text 26"/>
          <p:cNvSpPr/>
          <p:nvPr/>
        </p:nvSpPr>
        <p:spPr>
          <a:xfrm>
            <a:off x="8430768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MAR 2025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229600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Sycamore Park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8229600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1600 Sycamore St  ·  10 units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229600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$4,352,000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820656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820656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$982,000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66928" y="4700016"/>
            <a:ext cx="11045952" cy="1170432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9536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859536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DELIVERED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SOLD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017520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$13.25M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3017520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PROCEEDS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175504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$2.76M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5175504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333488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20.8%</a:t>
            </a:r>
            <a:endParaRPr lang="en-US" sz="2100" dirty="0"/>
          </a:p>
        </p:txBody>
      </p:sp>
      <p:sp>
        <p:nvSpPr>
          <p:cNvPr id="44" name="Text 42"/>
          <p:cNvSpPr/>
          <p:nvPr/>
        </p:nvSpPr>
        <p:spPr>
          <a:xfrm>
            <a:off x="7333488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9491472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$83,697</a:t>
            </a:r>
            <a:endParaRPr lang="en-US" sz="2100" dirty="0"/>
          </a:p>
        </p:txBody>
      </p:sp>
      <p:sp>
        <p:nvSpPr>
          <p:cNvPr id="46" name="Text 44"/>
          <p:cNvSpPr/>
          <p:nvPr/>
        </p:nvSpPr>
        <p:spPr>
          <a:xfrm>
            <a:off x="9491472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NET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UNIT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66928" y="5998464"/>
            <a:ext cx="11045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6E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Bondy Construction &amp; Design real-estate-owned and experience schedule, 21 March 2026. 3331 Trumbull's projected 24.8% margin and $106,900 net profit per unit sit modestly above what these three projects actually realized.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builder behind the neighborhood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Luke Bondy — CEO, Bondy Construction &amp; Design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Vertically integrated developer and licensed general contractor across Southeast Michigan. Builder and owner on 140+ residential for-sale units with more than $100M of completed construction, plus a ~50-unit rental portfolio he owns and his team operates.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Simpson — Co-Developer &amp; Investor Relations, AK Capital Investments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investor across single-family, multifamily, and commercial. Delta Air Lines pilot and former U.S. Army Blackhawk pilot; leads investor reporting and capital structure for the project.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4133088"/>
            <a:ext cx="1664208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" y="431596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4425696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$100M+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68096" y="480974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31720" y="4133088"/>
            <a:ext cx="1664208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32888" y="431596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2" name="Text 10"/>
          <p:cNvSpPr/>
          <p:nvPr/>
        </p:nvSpPr>
        <p:spPr>
          <a:xfrm>
            <a:off x="2532888" y="4425696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140+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2532888" y="480974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BUILT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SOLD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096512" y="4133088"/>
            <a:ext cx="1664208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431596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6" name="Text 14"/>
          <p:cNvSpPr/>
          <p:nvPr/>
        </p:nvSpPr>
        <p:spPr>
          <a:xfrm>
            <a:off x="4297680" y="4425696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50+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297680" y="480974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UNITS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43600" y="1664208"/>
            <a:ext cx="5650992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53328" y="1664208"/>
            <a:ext cx="3024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PROJECTS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297416" y="1664208"/>
            <a:ext cx="119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710164" y="166420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43600" y="1956816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53328" y="1956816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Wesburn Villas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297416" y="1956816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710164" y="1956816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43600" y="2281428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53328" y="2281428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iPG — Detroit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297416" y="2281428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710164" y="2281428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43600" y="2606040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53328" y="2606040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Harrison 12 — North Corktown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297416" y="2606040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710164" y="2606040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0" y="2930652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53328" y="2930652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Corktown 11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297416" y="2930652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710164" y="2930652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943600" y="3255264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53328" y="3255264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— North Corktown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297416" y="3255264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710164" y="3255264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943600" y="3579876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53328" y="3579876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2221 &amp; 2225 Wabash — Detroit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297416" y="3579876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710164" y="3579876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43600" y="3904488"/>
            <a:ext cx="5650992" cy="324612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53328" y="3904488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delivered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297416" y="3904488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projects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0710164" y="3904488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943600" y="4375404"/>
            <a:ext cx="5650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Bondy Construction &amp; Design firm profile, July 2026. Banking reference: First Merchants Bank has financed $10M+ of Bondy projects since 2019, with all obligations met per terms — reference letter available on request.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two phases run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2021–2025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68096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delivered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68096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Cochrane 11, Harrison 12, and Sycamore Park built and sold out within blocks of the site.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39696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40864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40864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40864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Permitting complete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40864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structure, and MEP documented by 4545 Architecture. Land owned since 2022.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12464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13632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13632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913632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capital close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913632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 of secured notes closes alongside the First Merchants construction loan.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285232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0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2–14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486400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build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0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homes across Buildings 1–3. Pre-sales launch during the build.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0" y="1700784"/>
            <a:ext cx="1517904" cy="3200400"/>
          </a:xfrm>
          <a:prstGeom prst="rect">
            <a:avLst/>
          </a:prstGeom>
          <a:solidFill>
            <a:srgbClr val="12303C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59168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59168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14–20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059168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closings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059168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deliver and close in sequence. Investor principal returns in full at the eighth closing.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430768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631936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31936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14–26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631936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build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631936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homes across Buildings 4–5, funded from Phase 1 proceeds — no second raise.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0003536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204704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204704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26–32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04704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Sellout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204704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closes out the block against a $10.76M projected sellout.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66928" y="5102352"/>
            <a:ext cx="11045952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22960" y="5431536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2" name="Text 40"/>
          <p:cNvSpPr/>
          <p:nvPr/>
        </p:nvSpPr>
        <p:spPr>
          <a:xfrm>
            <a:off x="1024128" y="523036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raise is capped: the raise is $700,000 — seven $100,000 secured notes to a small group of accredited investors — closing alongside the First Merchants construction loan to fund Phase 1. Phase 2 requires no additional raise.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3331-trumbull/deck/img/rendering-street-cor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0"/>
            <a:ext cx="57607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0" y="0"/>
            <a:ext cx="5760720" cy="6858000"/>
          </a:xfrm>
          <a:prstGeom prst="rect">
            <a:avLst/>
          </a:prstGeom>
          <a:solidFill>
            <a:srgbClr val="12303C">
              <a:alpha val="5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5" name="Shape 2"/>
          <p:cNvSpPr/>
          <p:nvPr/>
        </p:nvSpPr>
        <p:spPr>
          <a:xfrm>
            <a:off x="566928" y="87325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6" name="Text 3"/>
          <p:cNvSpPr/>
          <p:nvPr/>
        </p:nvSpPr>
        <p:spPr>
          <a:xfrm>
            <a:off x="768096" y="822960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120700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build it.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566928" y="228600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115568" y="22860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your notes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15568" y="25786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 each — seven available in the Phase 1 tranche.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25526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115568" y="325526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documents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15568" y="354787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terms, comp book, CD set, and the June 2026 proforma.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66928" y="422452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115568" y="42245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at close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15568" y="451713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closes alongside the First Merchants construction loan and Phase 1 breaks ground.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5230368"/>
            <a:ext cx="539496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534009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Simpson  ·  Co-Developer &amp; Investor Relations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6928" y="557784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 Capital Investments LLC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66928" y="581558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Kevin@AKCapital.fund   ·   trumbullnorth.com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66928" y="6126480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6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overview is a summary for discussion purposes only and is not an offer to sell or a solicitation of an offer to buy any security. Any offering is made only to accredited investors through definitive documents. Figures reflect launch pricing, third-party sold records, the Bondy Construction &amp; Design real-estate-owned schedule dated 21 March 2026, and the June 2026 proforma; all figures should be independently verified. Real estate investments involve risk, including loss of principal. Past performance of prior projects does not guarantee future results.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AK Capital Investments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3331 Trumbull — Investor Deck</dc:title>
  <dc:subject>PptxGenJS Presentation</dc:subject>
  <dc:creator>AK Capital Investments LLC</dc:creator>
  <cp:lastModifiedBy>AK Capital Investments LLC</cp:lastModifiedBy>
  <cp:revision>1</cp:revision>
  <dcterms:created xsi:type="dcterms:W3CDTF">2026-08-09T06:40:10Z</dcterms:created>
  <dcterms:modified xsi:type="dcterms:W3CDTF">2026-08-09T06:40:10Z</dcterms:modified>
</cp:coreProperties>
</file>